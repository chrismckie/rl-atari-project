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3" r:id="rId1"/>
  </p:sldMasterIdLst>
  <p:notesMasterIdLst>
    <p:notesMasterId r:id="rId10"/>
  </p:notesMasterIdLst>
  <p:sldIdLst>
    <p:sldId id="256" r:id="rId2"/>
    <p:sldId id="257" r:id="rId3"/>
    <p:sldId id="271" r:id="rId4"/>
    <p:sldId id="272" r:id="rId5"/>
    <p:sldId id="265" r:id="rId6"/>
    <p:sldId id="268" r:id="rId7"/>
    <p:sldId id="273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73"/>
    <p:restoredTop sz="94679"/>
  </p:normalViewPr>
  <p:slideViewPr>
    <p:cSldViewPr snapToGrid="0">
      <p:cViewPr>
        <p:scale>
          <a:sx n="54" d="100"/>
          <a:sy n="54" d="100"/>
        </p:scale>
        <p:origin x="584" y="1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5D550-5D35-7843-8BA5-E928B9A857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18FEA-E6D0-2A41-9445-61E96F131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4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18FEA-E6D0-2A41-9445-61E96F131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88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157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52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0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71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8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8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6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60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5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3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77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8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media" Target="../media/media5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video" Target="../media/media6.mp4"/><Relationship Id="rId5" Type="http://schemas.microsoft.com/office/2007/relationships/media" Target="../media/media6.mp4"/><Relationship Id="rId10" Type="http://schemas.openxmlformats.org/officeDocument/2006/relationships/image" Target="../media/image10.png"/><Relationship Id="rId4" Type="http://schemas.openxmlformats.org/officeDocument/2006/relationships/video" Target="../media/media5.mp4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E185-538E-E31F-938D-EB43AA7DF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Stable-Baselines3 Atari Mini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472B8-54BD-1FD7-7C57-3DA60A57C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McKie</a:t>
            </a:r>
          </a:p>
        </p:txBody>
      </p:sp>
    </p:spTree>
    <p:extLst>
      <p:ext uri="{BB962C8B-B14F-4D97-AF65-F5344CB8AC3E}">
        <p14:creationId xmlns:p14="http://schemas.microsoft.com/office/powerpoint/2010/main" val="114546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B128-A21F-1C5E-3985-B54B1B1E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Selected Domains &amp;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6C444-38EE-F842-039B-8A6A0E8DB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31" y="2425960"/>
            <a:ext cx="5802190" cy="38442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u="sng" dirty="0"/>
              <a:t>Atari Domains:</a:t>
            </a:r>
          </a:p>
          <a:p>
            <a:r>
              <a:rPr lang="en-US" sz="2600" b="1" dirty="0"/>
              <a:t>Q*</a:t>
            </a:r>
            <a:r>
              <a:rPr lang="en-US" sz="2600" b="1" dirty="0" err="1"/>
              <a:t>bert</a:t>
            </a:r>
            <a:r>
              <a:rPr lang="en-US" sz="2600" b="1" dirty="0"/>
              <a:t>: </a:t>
            </a:r>
            <a:r>
              <a:rPr lang="en-US" sz="2600" dirty="0"/>
              <a:t>Change the tile colors while avoiding obstacles</a:t>
            </a:r>
          </a:p>
          <a:p>
            <a:r>
              <a:rPr lang="en-US" sz="2600" b="1" dirty="0"/>
              <a:t>Donkey Kong: </a:t>
            </a:r>
            <a:r>
              <a:rPr lang="en-US" sz="2600" dirty="0"/>
              <a:t>Climb to the top of the level while avoiding barrels</a:t>
            </a:r>
          </a:p>
          <a:p>
            <a:pPr marL="0" indent="0">
              <a:buNone/>
            </a:pPr>
            <a:r>
              <a:rPr lang="en-US" sz="2600" u="sng" dirty="0"/>
              <a:t>Algorithms:</a:t>
            </a:r>
          </a:p>
          <a:p>
            <a:r>
              <a:rPr lang="en-US" sz="2600" dirty="0"/>
              <a:t>Deep Q-Network (DQN)</a:t>
            </a:r>
          </a:p>
          <a:p>
            <a:r>
              <a:rPr lang="en-US" sz="2600" dirty="0"/>
              <a:t>Proximal Policy Optimization (PPO)</a:t>
            </a:r>
            <a:endParaRPr lang="en-US" dirty="0"/>
          </a:p>
        </p:txBody>
      </p:sp>
      <p:pic>
        <p:nvPicPr>
          <p:cNvPr id="5" name="Picture 4" descr="A video game cover with cartoon characters&#10;&#10;AI-generated content may be incorrect.">
            <a:extLst>
              <a:ext uri="{FF2B5EF4-FFF2-40B4-BE49-F238E27FC236}">
                <a16:creationId xmlns:a16="http://schemas.microsoft.com/office/drawing/2014/main" id="{384C144E-54DB-078F-2544-7033E8E8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923" y="2763520"/>
            <a:ext cx="2568417" cy="3506652"/>
          </a:xfrm>
          <a:prstGeom prst="rect">
            <a:avLst/>
          </a:prstGeom>
        </p:spPr>
      </p:pic>
      <p:pic>
        <p:nvPicPr>
          <p:cNvPr id="7" name="Picture 6" descr="A box with cartoon characters on it&#10;&#10;AI-generated content may be incorrect.">
            <a:extLst>
              <a:ext uri="{FF2B5EF4-FFF2-40B4-BE49-F238E27FC236}">
                <a16:creationId xmlns:a16="http://schemas.microsoft.com/office/drawing/2014/main" id="{2C149B0F-F036-B19C-B28E-47505EEB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121" y="2763520"/>
            <a:ext cx="2518764" cy="350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9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FBA7-0910-B600-0669-7347F121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A4FC-2A3F-9013-933D-CFBBBD0D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63009-5660-D866-59BC-585460DB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7654" y="2614337"/>
            <a:ext cx="5477070" cy="38442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Learning Rate was the primary hyperparameter variation across both domains and algorithms</a:t>
            </a:r>
          </a:p>
          <a:p>
            <a:pPr marL="0" indent="0">
              <a:buNone/>
            </a:pPr>
            <a:r>
              <a:rPr lang="en-US" sz="2600" u="sng" dirty="0"/>
              <a:t>DQN</a:t>
            </a:r>
          </a:p>
          <a:p>
            <a:r>
              <a:rPr lang="en-US" sz="2600" dirty="0"/>
              <a:t>Learning Rate = 1e-4</a:t>
            </a:r>
          </a:p>
          <a:p>
            <a:r>
              <a:rPr lang="en-US" sz="2600" dirty="0"/>
              <a:t>Learning Rate = 5e-5</a:t>
            </a:r>
          </a:p>
          <a:p>
            <a:pPr marL="0" indent="0">
              <a:buNone/>
            </a:pPr>
            <a:r>
              <a:rPr lang="en-US" sz="2600" u="sng" dirty="0"/>
              <a:t>PPO:</a:t>
            </a:r>
          </a:p>
          <a:p>
            <a:r>
              <a:rPr lang="en-US" sz="2600" dirty="0"/>
              <a:t>Learning Rate = 3e-4</a:t>
            </a:r>
          </a:p>
          <a:p>
            <a:r>
              <a:rPr lang="en-US" sz="2600" dirty="0"/>
              <a:t>Learning Rate = 1e-4</a:t>
            </a:r>
            <a:endParaRPr lang="en-US" dirty="0"/>
          </a:p>
        </p:txBody>
      </p:sp>
      <p:pic>
        <p:nvPicPr>
          <p:cNvPr id="6" name="Picture 5" descr="A video game with a game&#10;&#10;AI-generated content may be incorrect.">
            <a:extLst>
              <a:ext uri="{FF2B5EF4-FFF2-40B4-BE49-F238E27FC236}">
                <a16:creationId xmlns:a16="http://schemas.microsoft.com/office/drawing/2014/main" id="{9C2D1583-B621-150D-C640-352B5BAF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724" y="2617161"/>
            <a:ext cx="2577331" cy="2577331"/>
          </a:xfrm>
          <a:prstGeom prst="rect">
            <a:avLst/>
          </a:prstGeom>
        </p:spPr>
      </p:pic>
      <p:pic>
        <p:nvPicPr>
          <p:cNvPr id="9" name="Picture 8" descr="A pyramid of cubes with a character on top&#10;&#10;AI-generated content may be incorrect.">
            <a:extLst>
              <a:ext uri="{FF2B5EF4-FFF2-40B4-BE49-F238E27FC236}">
                <a16:creationId xmlns:a16="http://schemas.microsoft.com/office/drawing/2014/main" id="{B11724D8-6566-F3F1-A8C7-F61BC058F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4" y="2614337"/>
            <a:ext cx="2327609" cy="16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6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416F-6526-1FF9-2538-5B7381F8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2B31-4EB4-5D80-EF5F-9DC38EE4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0934F-926A-3418-5D1D-5B1684CDE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30" y="2540595"/>
            <a:ext cx="5225470" cy="38442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u="sng" dirty="0"/>
              <a:t>Q*</a:t>
            </a:r>
            <a:r>
              <a:rPr lang="en-US" sz="2600" u="sng" dirty="0" err="1"/>
              <a:t>bert</a:t>
            </a:r>
            <a:r>
              <a:rPr lang="en-US" sz="2600" u="sng" dirty="0"/>
              <a:t>:</a:t>
            </a:r>
          </a:p>
          <a:p>
            <a:r>
              <a:rPr lang="en-US" sz="2600" dirty="0"/>
              <a:t>Progress was slow initially</a:t>
            </a:r>
          </a:p>
          <a:p>
            <a:r>
              <a:rPr lang="en-US" sz="2600" dirty="0"/>
              <a:t>Appears to have made new discoveries towards the end of training (especially with higher learning rates)</a:t>
            </a:r>
          </a:p>
          <a:p>
            <a:pPr marL="0" indent="0">
              <a:buNone/>
            </a:pPr>
            <a:r>
              <a:rPr lang="en-US" sz="2600" u="sng" dirty="0"/>
              <a:t>Donkey Kong:</a:t>
            </a:r>
          </a:p>
          <a:p>
            <a:r>
              <a:rPr lang="en-US" sz="2600" dirty="0"/>
              <a:t>Learned to exploit jumping over barrels for points early on</a:t>
            </a:r>
          </a:p>
          <a:p>
            <a:r>
              <a:rPr lang="en-US" sz="2600" dirty="0"/>
              <a:t>Never progressed up ladders, regardless of algorithm or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72CE1F-9DE4-A514-0235-0FF1EA82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400" y="2358497"/>
            <a:ext cx="6347600" cy="40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2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087C47-D365-B560-5BF8-2E8965571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252" y="2414900"/>
            <a:ext cx="5791748" cy="367372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2282AF-2135-5CB1-0A93-0A9108B8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19088"/>
              </p:ext>
            </p:extLst>
          </p:nvPr>
        </p:nvGraphicFramePr>
        <p:xfrm>
          <a:off x="304252" y="2834090"/>
          <a:ext cx="5791748" cy="2826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298">
                  <a:extLst>
                    <a:ext uri="{9D8B030D-6E8A-4147-A177-3AD203B41FA5}">
                      <a16:colId xmlns:a16="http://schemas.microsoft.com/office/drawing/2014/main" val="335151128"/>
                    </a:ext>
                  </a:extLst>
                </a:gridCol>
                <a:gridCol w="981994">
                  <a:extLst>
                    <a:ext uri="{9D8B030D-6E8A-4147-A177-3AD203B41FA5}">
                      <a16:colId xmlns:a16="http://schemas.microsoft.com/office/drawing/2014/main" val="2367340684"/>
                    </a:ext>
                  </a:extLst>
                </a:gridCol>
                <a:gridCol w="1366765">
                  <a:extLst>
                    <a:ext uri="{9D8B030D-6E8A-4147-A177-3AD203B41FA5}">
                      <a16:colId xmlns:a16="http://schemas.microsoft.com/office/drawing/2014/main" val="2234112249"/>
                    </a:ext>
                  </a:extLst>
                </a:gridCol>
                <a:gridCol w="1295093">
                  <a:extLst>
                    <a:ext uri="{9D8B030D-6E8A-4147-A177-3AD203B41FA5}">
                      <a16:colId xmlns:a16="http://schemas.microsoft.com/office/drawing/2014/main" val="3291104565"/>
                    </a:ext>
                  </a:extLst>
                </a:gridCol>
                <a:gridCol w="1208598">
                  <a:extLst>
                    <a:ext uri="{9D8B030D-6E8A-4147-A177-3AD203B41FA5}">
                      <a16:colId xmlns:a16="http://schemas.microsoft.com/office/drawing/2014/main" val="3506704974"/>
                    </a:ext>
                  </a:extLst>
                </a:gridCol>
              </a:tblGrid>
              <a:tr h="3272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Domain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Algorithm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Learning Rate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Mean Reward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Std. Dev.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7949259"/>
                  </a:ext>
                </a:extLst>
              </a:tr>
              <a:tr h="3272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Q*Bert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DQN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1e-4 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938.8 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±47.7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68901101"/>
                  </a:ext>
                </a:extLst>
              </a:tr>
              <a:tr h="327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Q*Bert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5e-5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762.5 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±29.0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9316274"/>
                  </a:ext>
                </a:extLst>
              </a:tr>
              <a:tr h="327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Q*Bert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3e-4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1062.5 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±259.0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3190021"/>
                  </a:ext>
                </a:extLst>
              </a:tr>
              <a:tr h="327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Q*Bert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1e-4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342.5 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±11.5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1709386"/>
                  </a:ext>
                </a:extLst>
              </a:tr>
              <a:tr h="5110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Donkey Kong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1e-4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3145.0 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±797.2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0723822"/>
                  </a:ext>
                </a:extLst>
              </a:tr>
              <a:tr h="511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Donkey Kong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3e-4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4330.0 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±130.8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5369598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2488CB68-45B8-548F-1CB5-C16EEBE6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217781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A67C-F758-6E68-CB6B-184CDE669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Q*Bert Videos</a:t>
            </a:r>
          </a:p>
        </p:txBody>
      </p:sp>
      <p:pic>
        <p:nvPicPr>
          <p:cNvPr id="7" name="ppo_qbert_early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D17EF0E5-BCAD-CF9B-95CB-EB859915126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49242" y="3153601"/>
            <a:ext cx="2363788" cy="31019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4F59CD-D11D-DC48-ACFA-60B844A4EBB1}"/>
              </a:ext>
            </a:extLst>
          </p:cNvPr>
          <p:cNvSpPr txBox="1"/>
          <p:nvPr/>
        </p:nvSpPr>
        <p:spPr>
          <a:xfrm>
            <a:off x="1458275" y="265693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622DB-8F2E-CC9D-FB6E-A886A66EB71D}"/>
              </a:ext>
            </a:extLst>
          </p:cNvPr>
          <p:cNvSpPr txBox="1"/>
          <p:nvPr/>
        </p:nvSpPr>
        <p:spPr>
          <a:xfrm>
            <a:off x="5115924" y="2670982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Middle Checkpoint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E7AFDF-DEF1-C970-8371-7BD640255206}"/>
              </a:ext>
            </a:extLst>
          </p:cNvPr>
          <p:cNvSpPr txBox="1"/>
          <p:nvPr/>
        </p:nvSpPr>
        <p:spPr>
          <a:xfrm>
            <a:off x="9341143" y="2656936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Model</a:t>
            </a:r>
          </a:p>
        </p:txBody>
      </p:sp>
      <p:pic>
        <p:nvPicPr>
          <p:cNvPr id="11" name="ppo_qbert_mid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C1DF64FB-B712-E7D0-DAC7-76D20F3A08B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914106" y="3153601"/>
            <a:ext cx="2363788" cy="3102472"/>
          </a:xfrm>
          <a:prstGeom prst="rect">
            <a:avLst/>
          </a:prstGeom>
        </p:spPr>
      </p:pic>
      <p:pic>
        <p:nvPicPr>
          <p:cNvPr id="12" name="ppo_qbert_final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E0F20CD0-D227-BC50-AD88-302250DF475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78971" y="3153599"/>
            <a:ext cx="2363787" cy="310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9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AC3D-776D-F73D-6CC5-CF5AB1E7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201C-22A5-C9A5-2251-C02C2F50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Donkey Kong Videos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619FC-C053-36B1-2746-9C258CB468C3}"/>
              </a:ext>
            </a:extLst>
          </p:cNvPr>
          <p:cNvSpPr txBox="1"/>
          <p:nvPr/>
        </p:nvSpPr>
        <p:spPr>
          <a:xfrm>
            <a:off x="1458275" y="265693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581FB7-9359-8972-7858-C1B8B5153FB3}"/>
              </a:ext>
            </a:extLst>
          </p:cNvPr>
          <p:cNvSpPr txBox="1"/>
          <p:nvPr/>
        </p:nvSpPr>
        <p:spPr>
          <a:xfrm>
            <a:off x="5115924" y="2670982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Middle Checkpoint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CCB77-9B56-0CC7-AB5F-FFAA094781EA}"/>
              </a:ext>
            </a:extLst>
          </p:cNvPr>
          <p:cNvSpPr txBox="1"/>
          <p:nvPr/>
        </p:nvSpPr>
        <p:spPr>
          <a:xfrm>
            <a:off x="9341143" y="2656936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Model</a:t>
            </a:r>
          </a:p>
        </p:txBody>
      </p:sp>
      <p:pic>
        <p:nvPicPr>
          <p:cNvPr id="5" name="ppo_donkeykong_early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3C1E1B0E-536B-9227-BAD5-F648174802F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49242" y="3154094"/>
            <a:ext cx="2363788" cy="3101975"/>
          </a:xfrm>
        </p:spPr>
      </p:pic>
      <p:pic>
        <p:nvPicPr>
          <p:cNvPr id="6" name="ppo_donkeykong_mid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29679934-B255-FEA4-01F3-67AF4EEECFA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914107" y="3153354"/>
            <a:ext cx="2363786" cy="3102469"/>
          </a:xfrm>
          <a:prstGeom prst="rect">
            <a:avLst/>
          </a:prstGeom>
        </p:spPr>
      </p:pic>
      <p:pic>
        <p:nvPicPr>
          <p:cNvPr id="13" name="ppo_donkeykong_final-step-0-to-step-3000.mp4">
            <a:hlinkClick r:id="" action="ppaction://media"/>
            <a:extLst>
              <a:ext uri="{FF2B5EF4-FFF2-40B4-BE49-F238E27FC236}">
                <a16:creationId xmlns:a16="http://schemas.microsoft.com/office/drawing/2014/main" id="{A13E7994-5DA9-A428-B8B5-29DEC9765E8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78972" y="3153354"/>
            <a:ext cx="2363786" cy="310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CB2E-B96F-EED4-56B8-0CB460D0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242790768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862</TotalTime>
  <Words>217</Words>
  <Application>Microsoft Macintosh PowerPoint</Application>
  <PresentationFormat>Widescreen</PresentationFormat>
  <Paragraphs>70</Paragraphs>
  <Slides>8</Slides>
  <Notes>1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Gill Sans MT</vt:lpstr>
      <vt:lpstr>Parcel</vt:lpstr>
      <vt:lpstr>Stable-Baselines3 Atari Mini Project</vt:lpstr>
      <vt:lpstr>Selected Domains &amp; Algorithms</vt:lpstr>
      <vt:lpstr>Hyperparameters</vt:lpstr>
      <vt:lpstr>Performance &amp; Analysis</vt:lpstr>
      <vt:lpstr>Performance &amp; Analysis</vt:lpstr>
      <vt:lpstr>Q*Bert Videos</vt:lpstr>
      <vt:lpstr>Donkey Kong Videos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McKie</dc:creator>
  <cp:lastModifiedBy>Chris McKie</cp:lastModifiedBy>
  <cp:revision>16</cp:revision>
  <dcterms:created xsi:type="dcterms:W3CDTF">2026-02-17T06:27:38Z</dcterms:created>
  <dcterms:modified xsi:type="dcterms:W3CDTF">2026-04-27T23:46:34Z</dcterms:modified>
</cp:coreProperties>
</file>